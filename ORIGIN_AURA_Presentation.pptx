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400" b="1">
                <a:solidFill>
                  <a:srgbClr val="00FF66"/>
                </a:solidFill>
                <a:latin typeface="Courier New"/>
              </a:defRPr>
            </a:pPr>
            <a:r>
              <a:t>🔮 ORIGIN AURA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Automated Universal Recruitment Analyzer</a:t>
            </a:r>
          </a:p>
          <a:p>
            <a:pPr>
              <a:spcAft>
                <a:spcPts val="4000"/>
              </a:spcAft>
              <a:defRPr sz="1400" i="1">
                <a:solidFill>
                  <a:srgbClr val="AAAAAA"/>
                </a:solidFill>
                <a:latin typeface="Arial"/>
              </a:defRPr>
            </a:pPr>
            <a:r>
              <a:t>Moving Beyond Keyword Matching to True Contextual Talent Evaluation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Developers: Balveer (Systems Developer) &amp; Nandhan M (Club Head)</a:t>
            </a:r>
            <a:br/>
            <a:r>
              <a:t>Organization: ORIGIN (Organization for Robotics, Intelligence &amp; Next-Gen Systems)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FF66"/>
                </a:solidFill>
                <a:latin typeface="Arial"/>
              </a:defRPr>
            </a:pPr>
            <a:r>
              <a:t>Why Legacy ATS Fails Elite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C00"/>
                </a:solidFill>
                <a:latin typeface="Courier New"/>
              </a:defRPr>
            </a:pPr>
            <a:r>
              <a:t>[!] The Legacy Keyword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• Traditional Applicant Tracking Systems (ATS) rely on primitive, rigid string-matching regex filters.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The 'SLAM' Trap: If a job profile requires 'SLAM' and an elite applicant writes 'Built autonomous spatial mapping networks,' standard systems drop them instantly.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66"/>
                </a:solidFill>
                <a:latin typeface="Courier New"/>
              </a:defRPr>
            </a:pPr>
            <a:r>
              <a:t>[✓] The Systematic Consequence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• Massive applicant volumes force recruiters to rely on shallow filtering, burying high-signal, multidisciplinary engineering talent in the noise.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AURA reads profiles like a human technical lead—evaluating contextual capability and domain skill instead of raw vocabulary matching.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FF66"/>
                </a:solidFill>
                <a:latin typeface="Arial"/>
              </a:defRPr>
            </a:pPr>
            <a:r>
              <a:t>The Hybrid Scoring Logic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3108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0FF66"/>
                </a:solidFill>
                <a:latin typeface="Courier New"/>
              </a:defRPr>
            </a:pPr>
            <a:r>
              <a:t>01 / Semantic Layer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Leverages the all-MiniLM-L6-v2 transformer engine to map full-text descriptions and candidate arrays into dense vector spaces. Uses cosine similarity to target core technical intent over direct keywords.</a:t>
            </a:r>
            <a:br/>
            <a:br/>
            <a:r>
              <a:t>Weight: 70%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463040"/>
            <a:ext cx="3474720" cy="3108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6459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0FF66"/>
                </a:solidFill>
                <a:latin typeface="Courier New"/>
              </a:defRPr>
            </a:pPr>
            <a:r>
              <a:t>02 / Timeline Layer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Applies a localized mathematical deviation scaling matrix to cross-examine chronological target parameters without imposing terminal constraints on highly exceptional outlier talent.</a:t>
            </a:r>
            <a:br/>
            <a:br/>
            <a:r>
              <a:t>Weight: 30%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463040"/>
            <a:ext cx="3474720" cy="3108960"/>
          </a:xfrm>
          <a:prstGeom prst="rect">
            <a:avLst/>
          </a:prstGeom>
          <a:solidFill>
            <a:srgbClr val="1E1E1E"/>
          </a:solidFill>
          <a:ln w="254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0FF66"/>
                </a:solidFill>
                <a:latin typeface="Courier New"/>
              </a:defRPr>
            </a:pPr>
            <a:r>
              <a:t>03 / Matrix Fusion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Programmatically fuses the vector distance calculations with timeline deviation values to construct a unified, completely transparent Total AURA Score out of 100 for final placement.</a:t>
            </a:r>
            <a:br/>
            <a:br/>
            <a:r>
              <a:t>Output: Live Leaderboard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FF66"/>
                </a:solidFill>
                <a:latin typeface="Arial"/>
              </a:defRPr>
            </a:pPr>
            <a:r>
              <a:t>The AURA Insights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400">
                <a:solidFill>
                  <a:srgbClr val="FFFFFF"/>
                </a:solidFill>
              </a:defRPr>
            </a:pPr>
            <a:r>
              <a:t>• Translating Vectors to Veracity: Raw quantitative evaluation percentages alone fail to build critical administrative or user trust.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Feature Verification: The insight runtime parses intersecting semantic clusters to explicitly reveal why a candidate earned their specific placement rank.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303520" cy="2286000"/>
          </a:xfrm>
          <a:prstGeom prst="rect">
            <a:avLst/>
          </a:prstGeom>
          <a:solidFill>
            <a:srgbClr val="1E1E1E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73736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888888"/>
                </a:solidFill>
                <a:latin typeface="Courier New"/>
              </a:defRPr>
            </a:pPr>
            <a:r>
              <a:t> aura-engine-node --verbose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&gt; Generating context summary...</a:t>
            </a:r>
          </a:p>
          <a:p>
            <a:pPr>
              <a:defRPr sz="1300" b="1">
                <a:solidFill>
                  <a:srgbClr val="FF8C00"/>
                </a:solidFill>
                <a:latin typeface="Courier New"/>
              </a:defRPr>
            </a:pPr>
            <a:r>
              <a:t>“Elite alignment: Exceptional structural grasp of ROS2 and Edge AI systems with optimal seniority timeline placement.”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FF66"/>
                </a:solidFill>
                <a:latin typeface="Arial"/>
              </a:defRPr>
            </a:pPr>
            <a:r>
              <a:t>Production-Ready Recruiter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</a:defRPr>
            </a:pPr>
            <a:r>
              <a:t>• High-Contrast Terminal UX: Styled with a dark mode terminal configuration to eliminate visual exhaustion across extended screening pipelines.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</a:defRPr>
            </a:pPr>
            <a:r>
              <a:t>• Visual Signal Grids: Employs dynamic scoring status badges (Premium Green for Top Alignment, Alert Orange, and Critical Red) allowing recruiters to screen cohorts of 50+ candidates in under 5 seconds.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Frictionless Data Portability: Features a seamless one-click export system that instantly structures, locks, and writes the evaluated cohort matrix directly into a standardized submission-ready CSV spreadsheet.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